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7B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45" y="365760"/>
            <a:ext cx="4016710" cy="5852160"/>
          </a:xfrm>
          <a:prstGeom prst="rect">
            <a:avLst/>
          </a:prstGeom>
        </p:spPr>
      </p:pic>
      <p:sp>
        <p:nvSpPr>
          <p:cNvPr id="4" name="Forma 4"/>
          <p:cNvSpPr/>
          <p:nvPr/>
        </p:nvSpPr>
        <p:spPr>
          <a:xfrm>
            <a:off x="713232" y="786384"/>
            <a:ext cx="50292" cy="1773936"/>
          </a:xfrm>
          <a:prstGeom prst="rect">
            <a:avLst/>
          </a:prstGeom>
          <a:solidFill>
            <a:srgbClr val="17E3C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o 5"/>
          <p:cNvSpPr txBox="1"/>
          <p:nvPr/>
        </p:nvSpPr>
        <p:spPr>
          <a:xfrm>
            <a:off x="896112" y="804672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spc="220" dirty="0">
                <a:solidFill>
                  <a:srgbClr val="17E3CB"/>
                </a:solidFill>
                <a:latin typeface="Aegea Sans"/>
                <a:cs typeface="Aegea Sans"/>
              </a:rPr>
              <a:t>TUDO O QUE ESTÁ CADASTRADO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96112" y="1060704"/>
            <a:ext cx="603504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FFFFFF"/>
                </a:solidFill>
                <a:latin typeface="Aegea Sans"/>
                <a:cs typeface="Aegea Sans"/>
              </a:rPr>
              <a:t>GUERRILHA DE</a:t>
            </a:r>
          </a:p>
          <a:p>
            <a:pPr algn="l"/>
            <a:r>
              <a:rPr lang="pt-BR" sz="3300" b="1" dirty="0">
                <a:solidFill>
                  <a:srgbClr val="FFFFFF"/>
                </a:solidFill>
                <a:latin typeface="Aegea Sans"/>
                <a:cs typeface="Aegea Sans"/>
              </a:rPr>
              <a:t>COMUNICAÇÃO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896112" y="2231136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dirty="0">
                <a:solidFill>
                  <a:srgbClr val="C6D0F7"/>
                </a:solidFill>
                <a:latin typeface="Aegea Sans"/>
                <a:cs typeface="Aegea Sans"/>
              </a:rPr>
              <a:t>6 squads · 1 conteúdo</a:t>
            </a:r>
          </a:p>
        </p:txBody>
      </p:sp>
      <p:sp>
        <p:nvSpPr>
          <p:cNvPr id="8" name="Forma 8"/>
          <p:cNvSpPr/>
          <p:nvPr/>
        </p:nvSpPr>
        <p:spPr>
          <a:xfrm>
            <a:off x="896112" y="2944368"/>
            <a:ext cx="182880" cy="182880"/>
          </a:xfrm>
          <a:prstGeom prst="rect">
            <a:avLst/>
          </a:prstGeom>
          <a:solidFill>
            <a:srgbClr val="17E3C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o 9"/>
          <p:cNvSpPr txBox="1"/>
          <p:nvPr/>
        </p:nvSpPr>
        <p:spPr>
          <a:xfrm>
            <a:off x="1207008" y="291693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dirty="0">
                <a:solidFill>
                  <a:srgbClr val="DCE4EE"/>
                </a:solidFill>
                <a:latin typeface="Aegea Sans"/>
                <a:cs typeface="Aegea Sans"/>
              </a:rPr>
              <a:t>Litoral</a:t>
            </a:r>
          </a:p>
        </p:txBody>
      </p:sp>
      <p:sp>
        <p:nvSpPr>
          <p:cNvPr id="10" name="Forma 10"/>
          <p:cNvSpPr/>
          <p:nvPr/>
        </p:nvSpPr>
        <p:spPr>
          <a:xfrm>
            <a:off x="896112" y="324612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o 11"/>
          <p:cNvSpPr txBox="1"/>
          <p:nvPr/>
        </p:nvSpPr>
        <p:spPr>
          <a:xfrm>
            <a:off x="1207008" y="321868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dirty="0">
                <a:solidFill>
                  <a:srgbClr val="DCE4EE"/>
                </a:solidFill>
                <a:latin typeface="Aegea Sans"/>
                <a:cs typeface="Aegea Sans"/>
              </a:rPr>
              <a:t>Meio Norte</a:t>
            </a:r>
          </a:p>
        </p:txBody>
      </p:sp>
      <p:sp>
        <p:nvSpPr>
          <p:cNvPr id="12" name="Forma 12"/>
          <p:cNvSpPr/>
          <p:nvPr/>
        </p:nvSpPr>
        <p:spPr>
          <a:xfrm>
            <a:off x="896112" y="3547872"/>
            <a:ext cx="182880" cy="18288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o 13"/>
          <p:cNvSpPr txBox="1"/>
          <p:nvPr/>
        </p:nvSpPr>
        <p:spPr>
          <a:xfrm>
            <a:off x="1207008" y="352044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dirty="0">
                <a:solidFill>
                  <a:srgbClr val="DCE4EE"/>
                </a:solidFill>
                <a:latin typeface="Aegea Sans"/>
                <a:cs typeface="Aegea Sans"/>
              </a:rPr>
              <a:t>Cerrado</a:t>
            </a:r>
          </a:p>
        </p:txBody>
      </p:sp>
      <p:sp>
        <p:nvSpPr>
          <p:cNvPr id="14" name="Forma 14"/>
          <p:cNvSpPr/>
          <p:nvPr/>
        </p:nvSpPr>
        <p:spPr>
          <a:xfrm>
            <a:off x="896112" y="3849624"/>
            <a:ext cx="182880" cy="182880"/>
          </a:xfrm>
          <a:prstGeom prst="rect">
            <a:avLst/>
          </a:prstGeom>
          <a:solidFill>
            <a:srgbClr val="C6D0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o 15"/>
          <p:cNvSpPr txBox="1"/>
          <p:nvPr/>
        </p:nvSpPr>
        <p:spPr>
          <a:xfrm>
            <a:off x="1207008" y="382219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dirty="0">
                <a:solidFill>
                  <a:srgbClr val="DCE4EE"/>
                </a:solidFill>
                <a:latin typeface="Aegea Sans"/>
                <a:cs typeface="Aegea Sans"/>
              </a:rPr>
              <a:t>Semiárido Norte</a:t>
            </a:r>
          </a:p>
        </p:txBody>
      </p:sp>
      <p:sp>
        <p:nvSpPr>
          <p:cNvPr id="16" name="Forma 16"/>
          <p:cNvSpPr/>
          <p:nvPr/>
        </p:nvSpPr>
        <p:spPr>
          <a:xfrm>
            <a:off x="896112" y="4151376"/>
            <a:ext cx="182880" cy="182880"/>
          </a:xfrm>
          <a:prstGeom prst="rect">
            <a:avLst/>
          </a:prstGeom>
          <a:solidFill>
            <a:srgbClr val="8FA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o 17"/>
          <p:cNvSpPr txBox="1"/>
          <p:nvPr/>
        </p:nvSpPr>
        <p:spPr>
          <a:xfrm>
            <a:off x="1207008" y="412394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dirty="0">
                <a:solidFill>
                  <a:srgbClr val="DCE4EE"/>
                </a:solidFill>
                <a:latin typeface="Aegea Sans"/>
                <a:cs typeface="Aegea Sans"/>
              </a:rPr>
              <a:t>Semiárido Sul</a:t>
            </a:r>
          </a:p>
        </p:txBody>
      </p:sp>
      <p:sp>
        <p:nvSpPr>
          <p:cNvPr id="18" name="Forma 18"/>
          <p:cNvSpPr/>
          <p:nvPr/>
        </p:nvSpPr>
        <p:spPr>
          <a:xfrm>
            <a:off x="896112" y="4453128"/>
            <a:ext cx="182880" cy="182880"/>
          </a:xfrm>
          <a:prstGeom prst="rect">
            <a:avLst/>
          </a:prstGeom>
          <a:solidFill>
            <a:srgbClr val="5D77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o 19"/>
          <p:cNvSpPr txBox="1"/>
          <p:nvPr/>
        </p:nvSpPr>
        <p:spPr>
          <a:xfrm>
            <a:off x="1207008" y="442569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dirty="0">
                <a:solidFill>
                  <a:srgbClr val="DCE4EE"/>
                </a:solidFill>
                <a:latin typeface="Aegea Sans"/>
                <a:cs typeface="Aegea Sans"/>
              </a:rPr>
              <a:t>Águas de Teresina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713232" y="58704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spc="160" dirty="0">
                <a:solidFill>
                  <a:srgbClr val="8FA3BC"/>
                </a:solidFill>
                <a:latin typeface="Aegea Sans"/>
                <a:cs typeface="Aegea Sans"/>
              </a:rPr>
              <a:t>GUERRILHEIROS DA COMUNICAÇÃO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7B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838" y="384048"/>
            <a:ext cx="3263577" cy="4754880"/>
          </a:xfrm>
          <a:prstGeom prst="rect">
            <a:avLst/>
          </a:prstGeom>
        </p:spPr>
      </p:pic>
      <p:sp>
        <p:nvSpPr>
          <p:cNvPr id="4" name="Forma 4"/>
          <p:cNvSpPr/>
          <p:nvPr/>
        </p:nvSpPr>
        <p:spPr>
          <a:xfrm>
            <a:off x="713232" y="804672"/>
            <a:ext cx="50292" cy="1517904"/>
          </a:xfrm>
          <a:prstGeom prst="rect">
            <a:avLst/>
          </a:prstGeom>
          <a:solidFill>
            <a:srgbClr val="17E3C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o 5"/>
          <p:cNvSpPr txBox="1"/>
          <p:nvPr/>
        </p:nvSpPr>
        <p:spPr>
          <a:xfrm>
            <a:off x="896112" y="822960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1" spc="220" dirty="0">
                <a:solidFill>
                  <a:srgbClr val="17E3CB"/>
                </a:solidFill>
                <a:latin typeface="Aegea Sans"/>
                <a:cs typeface="Aegea Sans"/>
              </a:rPr>
              <a:t>TUDO O QUE ESTÁ CADASTRADO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96112" y="1097280"/>
            <a:ext cx="658368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300" b="1" dirty="0">
                <a:solidFill>
                  <a:srgbClr val="FFFFFF"/>
                </a:solidFill>
                <a:latin typeface="Aegea Sans"/>
                <a:cs typeface="Aegea Sans"/>
              </a:rPr>
              <a:t>SEMIÁRIDO NORTE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896112" y="1975104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dirty="0">
                <a:solidFill>
                  <a:srgbClr val="C6D0F7"/>
                </a:solidFill>
                <a:latin typeface="Aegea Sans"/>
                <a:cs typeface="Aegea Sans"/>
              </a:rPr>
              <a:t>Quadro do dia · 1 frente · 1 conteúdo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3544672" y="43891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spc="180" dirty="0">
                <a:solidFill>
                  <a:srgbClr val="17E3CB"/>
                </a:solidFill>
                <a:latin typeface="Aegea Sans"/>
                <a:cs typeface="Aegea Sans"/>
              </a:rPr>
              <a:t>SQUAD</a:t>
            </a:r>
          </a:p>
        </p:txBody>
      </p:sp>
      <p:sp>
        <p:nvSpPr>
          <p:cNvPr id="9" name="Forma 9"/>
          <p:cNvSpPr/>
          <p:nvPr/>
        </p:nvSpPr>
        <p:spPr>
          <a:xfrm>
            <a:off x="3544672" y="4663440"/>
            <a:ext cx="22860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400" y="4791456"/>
            <a:ext cx="365760" cy="365760"/>
          </a:xfrm>
          <a:prstGeom prst="ellipse">
            <a:avLst/>
          </a:prstGeom>
        </p:spPr>
      </p:pic>
      <p:sp>
        <p:nvSpPr>
          <p:cNvPr id="11" name="Texto 11"/>
          <p:cNvSpPr txBox="1"/>
          <p:nvPr/>
        </p:nvSpPr>
        <p:spPr>
          <a:xfrm>
            <a:off x="4093312" y="4764024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00" b="1" dirty="0">
                <a:solidFill>
                  <a:srgbClr val="12263F"/>
                </a:solidFill>
                <a:latin typeface="Aegea Sans"/>
                <a:cs typeface="Aegea Sans"/>
              </a:rPr>
              <a:t>MARTA SOARES LIMA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4093312" y="5038344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620" b="1" spc="60" dirty="0">
                <a:solidFill>
                  <a:srgbClr val="6B7C93"/>
                </a:solidFill>
                <a:latin typeface="Aegea Sans"/>
                <a:cs typeface="Aegea Sans"/>
              </a:rPr>
              <a:t>ANL. COMUNICAÇÃO SR</a:t>
            </a:r>
          </a:p>
        </p:txBody>
      </p:sp>
      <p:sp>
        <p:nvSpPr>
          <p:cNvPr id="13" name="Forma 13"/>
          <p:cNvSpPr/>
          <p:nvPr/>
        </p:nvSpPr>
        <p:spPr>
          <a:xfrm>
            <a:off x="5958688" y="4663440"/>
            <a:ext cx="22860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4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416" y="4791456"/>
            <a:ext cx="365760" cy="365760"/>
          </a:xfrm>
          <a:prstGeom prst="ellipse">
            <a:avLst/>
          </a:prstGeom>
        </p:spPr>
      </p:pic>
      <p:sp>
        <p:nvSpPr>
          <p:cNvPr id="15" name="Texto 15"/>
          <p:cNvSpPr txBox="1"/>
          <p:nvPr/>
        </p:nvSpPr>
        <p:spPr>
          <a:xfrm>
            <a:off x="6507328" y="4764024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00" b="1" dirty="0">
                <a:solidFill>
                  <a:srgbClr val="12263F"/>
                </a:solidFill>
                <a:latin typeface="Aegea Sans"/>
                <a:cs typeface="Aegea Sans"/>
              </a:rPr>
              <a:t>BEATRIZ HOLANDA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6507328" y="5038344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620" b="1" spc="60" dirty="0">
                <a:solidFill>
                  <a:srgbClr val="007C9F"/>
                </a:solidFill>
                <a:latin typeface="Aegea Sans"/>
                <a:cs typeface="Aegea Sans"/>
              </a:rPr>
              <a:t>ÍCONE · ATENDIMENTO IMPRENSA</a:t>
            </a:r>
          </a:p>
        </p:txBody>
      </p:sp>
      <p:sp>
        <p:nvSpPr>
          <p:cNvPr id="17" name="Forma 17"/>
          <p:cNvSpPr/>
          <p:nvPr/>
        </p:nvSpPr>
        <p:spPr>
          <a:xfrm>
            <a:off x="8372704" y="4663440"/>
            <a:ext cx="22860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8" name="Imagem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432" y="4791456"/>
            <a:ext cx="365760" cy="365760"/>
          </a:xfrm>
          <a:prstGeom prst="ellipse">
            <a:avLst/>
          </a:prstGeom>
        </p:spPr>
      </p:pic>
      <p:sp>
        <p:nvSpPr>
          <p:cNvPr id="19" name="Texto 19"/>
          <p:cNvSpPr txBox="1"/>
          <p:nvPr/>
        </p:nvSpPr>
        <p:spPr>
          <a:xfrm>
            <a:off x="8921344" y="4764024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700" b="1" dirty="0">
                <a:solidFill>
                  <a:srgbClr val="12263F"/>
                </a:solidFill>
                <a:latin typeface="Aegea Sans"/>
                <a:cs typeface="Aegea Sans"/>
              </a:rPr>
              <a:t>THYAGO FELIPE ALVES DA COSTA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8921344" y="5038344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620" b="1" spc="60" dirty="0">
                <a:solidFill>
                  <a:srgbClr val="6B7C93"/>
                </a:solidFill>
                <a:latin typeface="Aegea Sans"/>
                <a:cs typeface="Aegea Sans"/>
              </a:rPr>
              <a:t>ANL. COMUNICAÇÃO PL · ARTICULAÇÃO</a:t>
            </a:r>
          </a:p>
        </p:txBody>
      </p:sp>
      <p:pic>
        <p:nvPicPr>
          <p:cNvPr id="21" name="Imagem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023" y="5815584"/>
            <a:ext cx="2377440" cy="338328"/>
          </a:xfrm>
          <a:prstGeom prst="rect">
            <a:avLst/>
          </a:prstGeom>
        </p:spPr>
      </p:pic>
      <p:sp>
        <p:nvSpPr>
          <p:cNvPr id="22" name="Texto 22"/>
          <p:cNvSpPr txBox="1"/>
          <p:nvPr/>
        </p:nvSpPr>
        <p:spPr>
          <a:xfrm>
            <a:off x="713232" y="58704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00" b="1" spc="160" dirty="0">
                <a:solidFill>
                  <a:srgbClr val="8FA3BC"/>
                </a:solidFill>
                <a:latin typeface="Aegea Sans"/>
                <a:cs typeface="Aegea Sans"/>
              </a:rPr>
              <a:t>GUERRILHEIROS DA COMUNICAÇÃO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2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orma 3"/>
          <p:cNvSpPr/>
          <p:nvPr/>
        </p:nvSpPr>
        <p:spPr>
          <a:xfrm>
            <a:off x="0" y="713232"/>
            <a:ext cx="12191695" cy="41148"/>
          </a:xfrm>
          <a:prstGeom prst="rect">
            <a:avLst/>
          </a:prstGeom>
          <a:solidFill>
            <a:srgbClr val="17E3C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o 4"/>
          <p:cNvSpPr txBox="1"/>
          <p:nvPr/>
        </p:nvSpPr>
        <p:spPr>
          <a:xfrm>
            <a:off x="384048" y="21031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900" b="1" dirty="0">
                <a:solidFill>
                  <a:srgbClr val="FFFFFF"/>
                </a:solidFill>
                <a:latin typeface="Aegea Sans"/>
                <a:cs typeface="Aegea Sans"/>
              </a:rPr>
              <a:t>SEMIÁRIDO NORTE  |  QUADRO DO DIA</a:t>
            </a:r>
          </a:p>
        </p:txBody>
      </p:sp>
      <p:pic>
        <p:nvPicPr>
          <p:cNvPr id="5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647" y="219456"/>
            <a:ext cx="2286000" cy="324612"/>
          </a:xfrm>
          <a:prstGeom prst="rect">
            <a:avLst/>
          </a:prstGeom>
        </p:spPr>
      </p:pic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384048" y="1060704"/>
          <a:ext cx="11402568" cy="365760"/>
        </p:xfrm>
        <a:graphic>
          <a:graphicData uri="http://schemas.openxmlformats.org/drawingml/2006/table">
            <a:tbl>
              <a:tblPr firstRow="1"/>
              <a:tblGrid>
                <a:gridCol w="411480"/>
                <a:gridCol w="658368"/>
                <a:gridCol w="2880360"/>
                <a:gridCol w="1691640"/>
                <a:gridCol w="1600200"/>
                <a:gridCol w="1234440"/>
                <a:gridCol w="160020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#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DATA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PAUTA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CONTEÚDO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MUNICÍPIO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CANAL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RESPONSÁVEL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Aegea Sans"/>
                          <a:cs typeface="Aegea Sans"/>
                        </a:rPr>
                        <a:t>SITUAÇÃO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0027B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0027BD"/>
                          </a:solidFill>
                          <a:latin typeface="Aegea Sans"/>
                          <a:cs typeface="Aegea Sans"/>
                        </a:rPr>
                        <a:t>01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0027BD"/>
                          </a:solidFill>
                          <a:latin typeface="Aegea Sans"/>
                          <a:cs typeface="Aegea Sans"/>
                        </a:rPr>
                        <a:t>15.09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12263F"/>
                          </a:solidFill>
                          <a:latin typeface="Aegea Sans"/>
                          <a:cs typeface="Aegea Sans"/>
                        </a:rPr>
                        <a:t>Mutirão Tarifa Social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solidFill>
                            <a:srgbClr val="12263F"/>
                          </a:solidFill>
                          <a:latin typeface="Aegea Sans"/>
                          <a:cs typeface="Aegea Sans"/>
                        </a:rPr>
                        <a:t>Vídeo do mutirão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6B7C93"/>
                          </a:solidFill>
                          <a:latin typeface="Aegea Sans"/>
                          <a:cs typeface="Aegea Sans"/>
                        </a:rPr>
                        <a:t>Picos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6B7C93"/>
                          </a:solidFill>
                          <a:latin typeface="Aegea Sans"/>
                          <a:cs typeface="Aegea Sans"/>
                        </a:rPr>
                        <a:t>—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6B7C93"/>
                          </a:solidFill>
                          <a:latin typeface="Aegea Sans"/>
                          <a:cs typeface="Aegea Sans"/>
                        </a:rPr>
                        <a:t>SA Propaganda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solidFill>
                            <a:srgbClr val="B06A00"/>
                          </a:solidFill>
                          <a:latin typeface="Aegea Sans"/>
                          <a:cs typeface="Aegea Sans"/>
                        </a:rPr>
                        <a:t>Criação</a:t>
                      </a:r>
                    </a:p>
                  </a:txBody>
                  <a:tcPr marL="68580" marR="68580" marT="27432" marB="27432" anchor="ctr">
                    <a:lnB w="9525" cap="flat">
                      <a:solidFill>
                        <a:srgbClr val="DCE4EE"/>
                      </a:solidFill>
                    </a:lnB>
                    <a:solidFill>
                      <a:srgbClr val="FBF0DE"/>
                    </a:solidFill>
                  </a:tcPr>
                </a:tc>
              </a:tr>
            </a:tbl>
          </a:graphicData>
        </a:graphic>
      </p:graphicFrame>
      <p:sp>
        <p:nvSpPr>
          <p:cNvPr id="7" name="Texto 7"/>
          <p:cNvSpPr txBox="1"/>
          <p:nvPr/>
        </p:nvSpPr>
        <p:spPr>
          <a:xfrm>
            <a:off x="384048" y="6473952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dirty="0">
                <a:solidFill>
                  <a:srgbClr val="8FA3BC"/>
                </a:solidFill>
                <a:latin typeface="Aegea Sans"/>
                <a:cs typeface="Aegea Sans"/>
              </a:rPr>
              <a:t>tudo o que está cadastrado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8150047" y="647395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pt-BR" sz="900" b="1" spc="120" dirty="0">
                <a:solidFill>
                  <a:srgbClr val="8FA3BC"/>
                </a:solidFill>
                <a:latin typeface="Aegea Sans"/>
                <a:cs typeface="Aegea Sans"/>
              </a:rPr>
              <a:t>GUERRILHEIROS DA COMUNICAÇÃO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A">
  <a:themeElements>
    <a:clrScheme name="GCA">
      <a:dk1>
        <a:srgbClr val="12263F"/>
      </a:dk1>
      <a:lt1>
        <a:srgbClr val="FFFFFF"/>
      </a:lt1>
      <a:dk2>
        <a:srgbClr val="001C86"/>
      </a:dk2>
      <a:lt2>
        <a:srgbClr val="F1F5FA"/>
      </a:lt2>
      <a:accent1>
        <a:srgbClr val="0027BD"/>
      </a:accent1>
      <a:accent2>
        <a:srgbClr val="17E3CB"/>
      </a:accent2>
      <a:accent3>
        <a:srgbClr val="5D77E3"/>
      </a:accent3>
      <a:accent4>
        <a:srgbClr val="0E7C5A"/>
      </a:accent4>
      <a:accent5>
        <a:srgbClr val="B06A00"/>
      </a:accent5>
      <a:accent6>
        <a:srgbClr val="BE0F4B"/>
      </a:accent6>
      <a:hlink>
        <a:srgbClr val="0027BD"/>
      </a:hlink>
      <a:folHlink>
        <a:srgbClr val="6B7C93"/>
      </a:folHlink>
    </a:clrScheme>
    <a:fontScheme name="GCA">
      <a:majorFont>
        <a:latin typeface="Aegea Sans"/>
        <a:ea typeface=""/>
        <a:cs typeface=""/>
      </a:majorFont>
      <a:minorFont>
        <a:latin typeface="Aegea Sans"/>
        <a:ea typeface=""/>
        <a:cs typeface=""/>
      </a:minorFont>
    </a:fontScheme>
    <a:fmtScheme name="GC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Guerrilheiros</Application>
  <Slides>3</Slides>
  <Company>Aegea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Guerrilheiros · GUERRILHA DE COMUNICAÇÃO · tudo o que está cadastrado</dc:title>
  <dc:creator>Guerrilheiros da Comunicação</dc:creator>
  <cp:lastModifiedBy>Guerrilheiros</cp:lastModifiedBy>
  <dcterms:created xsi:type="dcterms:W3CDTF">2026-09-15T16:12:18Z</dcterms:created>
  <dcterms:modified xsi:type="dcterms:W3CDTF">2026-09-15T16:12:18Z</dcterms:modified>
</cp:coreProperties>
</file>